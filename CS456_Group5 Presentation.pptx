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Urbanist Medium"/>
      <p:regular r:id="rId29"/>
      <p:bold r:id="rId30"/>
      <p:italic r:id="rId31"/>
      <p:boldItalic r:id="rId32"/>
    </p:embeddedFont>
    <p:embeddedFont>
      <p:font typeface="Urbanist SemiBold"/>
      <p:regular r:id="rId33"/>
      <p:bold r:id="rId34"/>
      <p:italic r:id="rId35"/>
      <p:boldItalic r:id="rId36"/>
    </p:embeddedFont>
    <p:embeddedFont>
      <p:font typeface="Urbanis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Medium-italic.fntdata"/><Relationship Id="rId30" Type="http://schemas.openxmlformats.org/officeDocument/2006/relationships/font" Target="fonts/UrbanistMedium-bold.fntdata"/><Relationship Id="rId11" Type="http://schemas.openxmlformats.org/officeDocument/2006/relationships/slide" Target="slides/slide5.xml"/><Relationship Id="rId33" Type="http://schemas.openxmlformats.org/officeDocument/2006/relationships/font" Target="fonts/Urbanist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Urbanist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UrbanistSemiBold-italic.fntdata"/><Relationship Id="rId12" Type="http://schemas.openxmlformats.org/officeDocument/2006/relationships/slide" Target="slides/slide6.xml"/><Relationship Id="rId34" Type="http://schemas.openxmlformats.org/officeDocument/2006/relationships/font" Target="fonts/UrbanistSemiBold-bold.fntdata"/><Relationship Id="rId15" Type="http://schemas.openxmlformats.org/officeDocument/2006/relationships/slide" Target="slides/slide9.xml"/><Relationship Id="rId37" Type="http://schemas.openxmlformats.org/officeDocument/2006/relationships/font" Target="fonts/Urbanist-regular.fntdata"/><Relationship Id="rId14" Type="http://schemas.openxmlformats.org/officeDocument/2006/relationships/slide" Target="slides/slide8.xml"/><Relationship Id="rId36" Type="http://schemas.openxmlformats.org/officeDocument/2006/relationships/font" Target="fonts/UrbanistSemiBold-boldItalic.fntdata"/><Relationship Id="rId17" Type="http://schemas.openxmlformats.org/officeDocument/2006/relationships/slide" Target="slides/slide11.xml"/><Relationship Id="rId39" Type="http://schemas.openxmlformats.org/officeDocument/2006/relationships/font" Target="fonts/Urbanist-italic.fntdata"/><Relationship Id="rId16" Type="http://schemas.openxmlformats.org/officeDocument/2006/relationships/slide" Target="slides/slide10.xml"/><Relationship Id="rId38" Type="http://schemas.openxmlformats.org/officeDocument/2006/relationships/font" Target="fonts/Urbanis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ab84232ca0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ab84232ca0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ac69d5ba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ac69d5ba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ab84232ca0_0_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ab84232ca0_0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ab84232ca0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ab84232ca0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b84232ca0_0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ab84232ca0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ab84232ca0_0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ab84232ca0_0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ab84232ca0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ab84232ca0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ab84232ca0_0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ab84232ca0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ab84232ca0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ab84232ca0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bb8557c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abb8557c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abb8557cb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abb8557cb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abb8557cb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abb8557cb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bb8557cb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abb8557cb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abb8557cb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abb8557cb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abb8557cb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abb8557cb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abb37ebce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abb37ebce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bb37ebce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abb37ebce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abb37ebce7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abb37ebce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abb37ebce7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abb37ebce7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abb37ebce7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abb37ebce7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abb37ebce7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abb37ebce7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ac69d5ba8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ac69d5ba8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53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4" name="Google Shape;484;p53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Steam Game Data (May 2024)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5" name="Google Shape;485;p53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CWU - </a:t>
            </a: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CS 456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86" name="Google Shape;486;p5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487" name="Google Shape;487;p5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Ian Seymour</a:t>
            </a:r>
            <a:endParaRPr/>
          </a:p>
        </p:txBody>
      </p:sp>
      <p:sp>
        <p:nvSpPr>
          <p:cNvPr id="488" name="Google Shape;488;p53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Adrian Rivera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53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December 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  <p:pic>
        <p:nvPicPr>
          <p:cNvPr id="491" name="Google Shape;491;p53" title="Steam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178" y="1128888"/>
            <a:ext cx="5130148" cy="28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53"/>
          <p:cNvSpPr/>
          <p:nvPr/>
        </p:nvSpPr>
        <p:spPr>
          <a:xfrm>
            <a:off x="320975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3" name="Google Shape;493;p53"/>
          <p:cNvSpPr txBox="1"/>
          <p:nvPr>
            <p:ph idx="6" type="subTitle"/>
          </p:nvPr>
        </p:nvSpPr>
        <p:spPr>
          <a:xfrm>
            <a:off x="3276950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Guillermo Leon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4"/>
          <p:cNvSpPr txBox="1"/>
          <p:nvPr>
            <p:ph type="title"/>
          </p:nvPr>
        </p:nvSpPr>
        <p:spPr>
          <a:xfrm>
            <a:off x="5018625" y="351125"/>
            <a:ext cx="38484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99" name="Google Shape;499;p54"/>
          <p:cNvSpPr txBox="1"/>
          <p:nvPr>
            <p:ph idx="1" type="body"/>
          </p:nvPr>
        </p:nvSpPr>
        <p:spPr>
          <a:xfrm>
            <a:off x="4978325" y="1325800"/>
            <a:ext cx="28701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dk2"/>
                </a:solidFill>
              </a:rPr>
              <a:t>Project Goals: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dk2"/>
                </a:solidFill>
              </a:rPr>
              <a:t>Using the Steam Game dataset, determine what factors influence a game’s reception from players and critics.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dk2"/>
                </a:solidFill>
              </a:rPr>
              <a:t>The Steam Game dataset: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Collected by </a:t>
            </a:r>
            <a:r>
              <a:rPr lang="en" sz="1200">
                <a:solidFill>
                  <a:schemeClr val="dk2"/>
                </a:solidFill>
              </a:rPr>
              <a:t>web scraping</a:t>
            </a:r>
            <a:r>
              <a:rPr lang="en" sz="1200">
                <a:solidFill>
                  <a:schemeClr val="dk2"/>
                </a:solidFill>
              </a:rPr>
              <a:t>,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Contains 46 columns,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Game data collected for all games on Steam,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Extensive but sparse data,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High dimensionality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00" name="Google Shape;500;p54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Group 5</a:t>
            </a:r>
            <a:endParaRPr/>
          </a:p>
        </p:txBody>
      </p:sp>
      <p:pic>
        <p:nvPicPr>
          <p:cNvPr id="501" name="Google Shape;501;p54" title="Screenshot 2025-12-01 at 10-13-56 Baldur's Gate 3 on Steam.png"/>
          <p:cNvPicPr preferRelativeResize="0"/>
          <p:nvPr/>
        </p:nvPicPr>
        <p:blipFill rotWithShape="1">
          <a:blip r:embed="rId3">
            <a:alphaModFix/>
          </a:blip>
          <a:srcRect b="72570" l="0" r="0" t="2775"/>
          <a:stretch/>
        </p:blipFill>
        <p:spPr>
          <a:xfrm>
            <a:off x="433450" y="228600"/>
            <a:ext cx="3944176" cy="4122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5"/>
          <p:cNvSpPr txBox="1"/>
          <p:nvPr>
            <p:ph type="title"/>
          </p:nvPr>
        </p:nvSpPr>
        <p:spPr>
          <a:xfrm>
            <a:off x="228600" y="689725"/>
            <a:ext cx="3848400" cy="17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What game attributes are most important to positive reviews?</a:t>
            </a:r>
            <a:endParaRPr/>
          </a:p>
        </p:txBody>
      </p:sp>
      <p:sp>
        <p:nvSpPr>
          <p:cNvPr id="507" name="Google Shape;507;p55"/>
          <p:cNvSpPr txBox="1"/>
          <p:nvPr>
            <p:ph idx="1" type="body"/>
          </p:nvPr>
        </p:nvSpPr>
        <p:spPr>
          <a:xfrm>
            <a:off x="228600" y="3127075"/>
            <a:ext cx="28701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WIth an XGP Regression, the top 30 most important characteristics for positive reviews can be found.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08" name="Google Shape;508;p55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1:</a:t>
            </a:r>
            <a:endParaRPr/>
          </a:p>
        </p:txBody>
      </p:sp>
      <p:sp>
        <p:nvSpPr>
          <p:cNvPr id="509" name="Google Shape;509;p55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Group 5</a:t>
            </a:r>
            <a:endParaRPr/>
          </a:p>
        </p:txBody>
      </p:sp>
      <p:pic>
        <p:nvPicPr>
          <p:cNvPr id="510" name="Google Shape;510;p55" title="feature_importance_b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050" y="228600"/>
            <a:ext cx="5050598" cy="40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6"/>
          <p:cNvSpPr txBox="1"/>
          <p:nvPr>
            <p:ph type="title"/>
          </p:nvPr>
        </p:nvSpPr>
        <p:spPr>
          <a:xfrm>
            <a:off x="228600" y="689725"/>
            <a:ext cx="3848400" cy="17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What game attributes are most important to positive reviews?</a:t>
            </a:r>
            <a:endParaRPr/>
          </a:p>
        </p:txBody>
      </p:sp>
      <p:sp>
        <p:nvSpPr>
          <p:cNvPr id="516" name="Google Shape;516;p56"/>
          <p:cNvSpPr txBox="1"/>
          <p:nvPr>
            <p:ph idx="1" type="body"/>
          </p:nvPr>
        </p:nvSpPr>
        <p:spPr>
          <a:xfrm>
            <a:off x="228600" y="3127075"/>
            <a:ext cx="28701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Calculating the positive and negative correlations for numerical categories yields these traits.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17" name="Google Shape;517;p56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1:</a:t>
            </a:r>
            <a:endParaRPr/>
          </a:p>
        </p:txBody>
      </p:sp>
      <p:sp>
        <p:nvSpPr>
          <p:cNvPr id="518" name="Google Shape;518;p5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Group 5</a:t>
            </a:r>
            <a:endParaRPr/>
          </a:p>
        </p:txBody>
      </p:sp>
      <p:pic>
        <p:nvPicPr>
          <p:cNvPr id="519" name="Google Shape;519;p56" title="numeric_correlation_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475" y="457200"/>
            <a:ext cx="5045274" cy="302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7"/>
          <p:cNvSpPr txBox="1"/>
          <p:nvPr>
            <p:ph type="title"/>
          </p:nvPr>
        </p:nvSpPr>
        <p:spPr>
          <a:xfrm>
            <a:off x="228600" y="689725"/>
            <a:ext cx="3848400" cy="17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What impact does release date have on percent of positive reviews?</a:t>
            </a:r>
            <a:endParaRPr/>
          </a:p>
        </p:txBody>
      </p:sp>
      <p:sp>
        <p:nvSpPr>
          <p:cNvPr id="525" name="Google Shape;525;p57"/>
          <p:cNvSpPr txBox="1"/>
          <p:nvPr>
            <p:ph idx="1" type="body"/>
          </p:nvPr>
        </p:nvSpPr>
        <p:spPr>
          <a:xfrm>
            <a:off x="228600" y="3127075"/>
            <a:ext cx="28701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Ignoring the specific day, to answer this question it is better to focus on release year and release month as separate </a:t>
            </a:r>
            <a:r>
              <a:rPr lang="en">
                <a:solidFill>
                  <a:schemeClr val="dk2"/>
                </a:solidFill>
              </a:rPr>
              <a:t>attributes</a:t>
            </a:r>
            <a:r>
              <a:rPr lang="en">
                <a:solidFill>
                  <a:schemeClr val="dk2"/>
                </a:solidFill>
              </a:rPr>
              <a:t>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Release month had a minor impact on average positive review percentage.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26" name="Google Shape;526;p57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2:</a:t>
            </a:r>
            <a:endParaRPr/>
          </a:p>
        </p:txBody>
      </p:sp>
      <p:sp>
        <p:nvSpPr>
          <p:cNvPr id="527" name="Google Shape;527;p57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Group 5</a:t>
            </a:r>
            <a:endParaRPr/>
          </a:p>
        </p:txBody>
      </p:sp>
      <p:pic>
        <p:nvPicPr>
          <p:cNvPr id="528" name="Google Shape;528;p57" title="monthly_review_percent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125" y="457200"/>
            <a:ext cx="5213952" cy="30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/>
          <p:cNvSpPr txBox="1"/>
          <p:nvPr>
            <p:ph type="title"/>
          </p:nvPr>
        </p:nvSpPr>
        <p:spPr>
          <a:xfrm>
            <a:off x="228600" y="689725"/>
            <a:ext cx="3848400" cy="17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What impact does release date have on percent of positive reviews?</a:t>
            </a:r>
            <a:endParaRPr/>
          </a:p>
        </p:txBody>
      </p:sp>
      <p:sp>
        <p:nvSpPr>
          <p:cNvPr id="534" name="Google Shape;534;p58"/>
          <p:cNvSpPr txBox="1"/>
          <p:nvPr>
            <p:ph idx="1" type="body"/>
          </p:nvPr>
        </p:nvSpPr>
        <p:spPr>
          <a:xfrm>
            <a:off x="228600" y="3127075"/>
            <a:ext cx="28701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For release year, an interesting trend is revealed: overall player satisfaction (average percentage of positive reviews) has consistently declined every year.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35" name="Google Shape;535;p58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2:</a:t>
            </a:r>
            <a:endParaRPr/>
          </a:p>
        </p:txBody>
      </p:sp>
      <p:sp>
        <p:nvSpPr>
          <p:cNvPr id="536" name="Google Shape;536;p5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Group 5</a:t>
            </a:r>
            <a:endParaRPr/>
          </a:p>
        </p:txBody>
      </p:sp>
      <p:pic>
        <p:nvPicPr>
          <p:cNvPr id="537" name="Google Shape;537;p58" title="yearly_review_percentage_tr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200" y="968125"/>
            <a:ext cx="5110200" cy="315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9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2:</a:t>
            </a:r>
            <a:endParaRPr/>
          </a:p>
        </p:txBody>
      </p:sp>
      <p:sp>
        <p:nvSpPr>
          <p:cNvPr id="543" name="Google Shape;543;p59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Group 5</a:t>
            </a:r>
            <a:endParaRPr/>
          </a:p>
        </p:txBody>
      </p:sp>
      <p:pic>
        <p:nvPicPr>
          <p:cNvPr id="544" name="Google Shape;544;p59" title="annual_trend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1702" y="182325"/>
            <a:ext cx="6785725" cy="477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0"/>
          <p:cNvSpPr txBox="1"/>
          <p:nvPr>
            <p:ph type="title"/>
          </p:nvPr>
        </p:nvSpPr>
        <p:spPr>
          <a:xfrm>
            <a:off x="228600" y="689725"/>
            <a:ext cx="3848400" cy="17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What clusters can be made from the many game attributes?</a:t>
            </a:r>
            <a:endParaRPr/>
          </a:p>
        </p:txBody>
      </p:sp>
      <p:sp>
        <p:nvSpPr>
          <p:cNvPr id="550" name="Google Shape;550;p60"/>
          <p:cNvSpPr txBox="1"/>
          <p:nvPr>
            <p:ph idx="1" type="body"/>
          </p:nvPr>
        </p:nvSpPr>
        <p:spPr>
          <a:xfrm>
            <a:off x="228600" y="3127075"/>
            <a:ext cx="28701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K-Means reveals that the optimal k is 2, which results in a somewhat messy group of clusters.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These clusters only account for a small percentage of variance, but the model is 91% accurate according to K-Nearest Neighbors.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51" name="Google Shape;551;p60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3:</a:t>
            </a:r>
            <a:endParaRPr/>
          </a:p>
        </p:txBody>
      </p:sp>
      <p:sp>
        <p:nvSpPr>
          <p:cNvPr id="552" name="Google Shape;552;p60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Group 5</a:t>
            </a:r>
            <a:endParaRPr/>
          </a:p>
        </p:txBody>
      </p:sp>
      <p:pic>
        <p:nvPicPr>
          <p:cNvPr id="553" name="Google Shape;553;p60" title="clusters_full_scale_vorono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0525" y="152400"/>
            <a:ext cx="5171077" cy="4135852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60"/>
          <p:cNvSpPr/>
          <p:nvPr/>
        </p:nvSpPr>
        <p:spPr>
          <a:xfrm>
            <a:off x="4481000" y="674550"/>
            <a:ext cx="433500" cy="385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1"/>
          <p:cNvSpPr txBox="1"/>
          <p:nvPr>
            <p:ph type="title"/>
          </p:nvPr>
        </p:nvSpPr>
        <p:spPr>
          <a:xfrm>
            <a:off x="228600" y="689725"/>
            <a:ext cx="3848400" cy="17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What clusters can be made from the many game attributes?</a:t>
            </a:r>
            <a:endParaRPr/>
          </a:p>
        </p:txBody>
      </p:sp>
      <p:sp>
        <p:nvSpPr>
          <p:cNvPr id="560" name="Google Shape;560;p61"/>
          <p:cNvSpPr txBox="1"/>
          <p:nvPr>
            <p:ph idx="1" type="body"/>
          </p:nvPr>
        </p:nvSpPr>
        <p:spPr>
          <a:xfrm>
            <a:off x="228600" y="3127075"/>
            <a:ext cx="28701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There are two distinct clusters: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Cluster 0: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Blockbuster games with high initial peak concurrent users.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Cluster 1: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2"/>
                </a:solidFill>
              </a:rPr>
              <a:t>Games that satisfy players </a:t>
            </a:r>
            <a:r>
              <a:rPr lang="en">
                <a:solidFill>
                  <a:schemeClr val="dk2"/>
                </a:solidFill>
              </a:rPr>
              <a:t>long term</a:t>
            </a:r>
            <a:r>
              <a:rPr lang="en">
                <a:solidFill>
                  <a:schemeClr val="dk2"/>
                </a:solidFill>
              </a:rPr>
              <a:t> but might not be immediate hits.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61" name="Google Shape;561;p61"/>
          <p:cNvSpPr txBox="1"/>
          <p:nvPr>
            <p:ph idx="8" type="subTitle"/>
          </p:nvPr>
        </p:nvSpPr>
        <p:spPr>
          <a:xfrm>
            <a:off x="235575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3:</a:t>
            </a:r>
            <a:endParaRPr/>
          </a:p>
        </p:txBody>
      </p:sp>
      <p:sp>
        <p:nvSpPr>
          <p:cNvPr id="562" name="Google Shape;562;p61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Group 5</a:t>
            </a:r>
            <a:endParaRPr/>
          </a:p>
        </p:txBody>
      </p:sp>
      <p:pic>
        <p:nvPicPr>
          <p:cNvPr id="563" name="Google Shape;563;p61" title="heatmapk2_nototrev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9400" y="152400"/>
            <a:ext cx="4762199" cy="396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2"/>
          <p:cNvSpPr txBox="1"/>
          <p:nvPr>
            <p:ph type="title"/>
          </p:nvPr>
        </p:nvSpPr>
        <p:spPr>
          <a:xfrm>
            <a:off x="228600" y="613525"/>
            <a:ext cx="3904500" cy="1871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metacritic scores affect the average playtime forever?</a:t>
            </a:r>
            <a:endParaRPr/>
          </a:p>
        </p:txBody>
      </p:sp>
      <p:sp>
        <p:nvSpPr>
          <p:cNvPr id="569" name="Google Shape;569;p62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Yes and no: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Yes, the higher the score the more time overall is spent playing games over their lifetime.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No, while games with lower scores still do not compare in overall time, they still have plenty of time spent in game.</a:t>
            </a:r>
            <a:endParaRPr/>
          </a:p>
        </p:txBody>
      </p:sp>
      <p:sp>
        <p:nvSpPr>
          <p:cNvPr id="570" name="Google Shape;570;p62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571" name="Google Shape;571;p62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62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62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4:</a:t>
            </a:r>
            <a:endParaRPr/>
          </a:p>
        </p:txBody>
      </p:sp>
      <p:pic>
        <p:nvPicPr>
          <p:cNvPr id="574" name="Google Shape;57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2775" y="1161675"/>
            <a:ext cx="5102624" cy="21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3"/>
          <p:cNvSpPr txBox="1"/>
          <p:nvPr>
            <p:ph type="title"/>
          </p:nvPr>
        </p:nvSpPr>
        <p:spPr>
          <a:xfrm>
            <a:off x="228600" y="613525"/>
            <a:ext cx="3904500" cy="1871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metacritic scores affect the average playtime forever?</a:t>
            </a:r>
            <a:endParaRPr/>
          </a:p>
        </p:txBody>
      </p:sp>
      <p:sp>
        <p:nvSpPr>
          <p:cNvPr id="580" name="Google Shape;580;p63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Over abundance of ‘0’ score value: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Lead to </a:t>
            </a:r>
            <a:r>
              <a:rPr lang="en"/>
              <a:t>data</a:t>
            </a:r>
            <a:r>
              <a:rPr lang="en"/>
              <a:t> for the score to be uninterpretable.</a:t>
            </a:r>
            <a:endParaRPr/>
          </a:p>
        </p:txBody>
      </p:sp>
      <p:sp>
        <p:nvSpPr>
          <p:cNvPr id="581" name="Google Shape;581;p63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582" name="Google Shape;582;p63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63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63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4:</a:t>
            </a:r>
            <a:endParaRPr/>
          </a:p>
        </p:txBody>
      </p:sp>
      <p:pic>
        <p:nvPicPr>
          <p:cNvPr id="585" name="Google Shape;58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300" y="1150825"/>
            <a:ext cx="5110399" cy="2148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4"/>
          <p:cNvSpPr txBox="1"/>
          <p:nvPr>
            <p:ph type="title"/>
          </p:nvPr>
        </p:nvSpPr>
        <p:spPr>
          <a:xfrm>
            <a:off x="228600" y="613525"/>
            <a:ext cx="3904500" cy="2316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positive/negative reviews affect peak concurrent users (CCU)?</a:t>
            </a:r>
            <a:endParaRPr/>
          </a:p>
        </p:txBody>
      </p:sp>
      <p:sp>
        <p:nvSpPr>
          <p:cNvPr id="591" name="Google Shape;591;p64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Negative reviews had a higher correlation with peak CCU, though marginal.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Positive reviews had a lower correlation with peak CCU.</a:t>
            </a:r>
            <a:endParaRPr/>
          </a:p>
        </p:txBody>
      </p:sp>
      <p:sp>
        <p:nvSpPr>
          <p:cNvPr id="592" name="Google Shape;592;p64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593" name="Google Shape;593;p64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64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64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5:</a:t>
            </a:r>
            <a:endParaRPr/>
          </a:p>
        </p:txBody>
      </p:sp>
      <p:pic>
        <p:nvPicPr>
          <p:cNvPr id="596" name="Google Shape;59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3075" y="613525"/>
            <a:ext cx="4732326" cy="370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5"/>
          <p:cNvSpPr txBox="1"/>
          <p:nvPr>
            <p:ph type="title"/>
          </p:nvPr>
        </p:nvSpPr>
        <p:spPr>
          <a:xfrm>
            <a:off x="228600" y="613525"/>
            <a:ext cx="3904500" cy="2316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positive/negative reviews affect peak concurrent users (CCU)?</a:t>
            </a:r>
            <a:endParaRPr/>
          </a:p>
        </p:txBody>
      </p:sp>
      <p:sp>
        <p:nvSpPr>
          <p:cNvPr id="602" name="Google Shape;602;p65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Possible </a:t>
            </a:r>
            <a:r>
              <a:rPr lang="en"/>
              <a:t>explanation</a:t>
            </a:r>
            <a:r>
              <a:rPr lang="en"/>
              <a:t>: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Game is negatively reviewed overall but people still try it.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Reviews are mixed yet still overall negative.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Review Bombing.</a:t>
            </a:r>
            <a:endParaRPr/>
          </a:p>
        </p:txBody>
      </p:sp>
      <p:sp>
        <p:nvSpPr>
          <p:cNvPr id="603" name="Google Shape;603;p65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604" name="Google Shape;604;p65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65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65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5:</a:t>
            </a:r>
            <a:endParaRPr/>
          </a:p>
        </p:txBody>
      </p:sp>
      <p:pic>
        <p:nvPicPr>
          <p:cNvPr id="607" name="Google Shape;60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3075" y="613525"/>
            <a:ext cx="4732326" cy="370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6"/>
          <p:cNvSpPr txBox="1"/>
          <p:nvPr>
            <p:ph type="title"/>
          </p:nvPr>
        </p:nvSpPr>
        <p:spPr>
          <a:xfrm>
            <a:off x="228600" y="613525"/>
            <a:ext cx="3904500" cy="192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Is </a:t>
            </a:r>
            <a:r>
              <a:rPr lang="en" sz="2800"/>
              <a:t>price</a:t>
            </a:r>
            <a:r>
              <a:rPr lang="en" sz="2800"/>
              <a:t> or discounts affected by the amount of </a:t>
            </a:r>
            <a:r>
              <a:rPr lang="en" sz="2800"/>
              <a:t>recommendations</a:t>
            </a:r>
            <a:r>
              <a:rPr lang="en" sz="2800"/>
              <a:t> given or metacritic scores?</a:t>
            </a:r>
            <a:endParaRPr sz="2800"/>
          </a:p>
        </p:txBody>
      </p:sp>
      <p:sp>
        <p:nvSpPr>
          <p:cNvPr id="613" name="Google Shape;613;p66"/>
          <p:cNvSpPr txBox="1"/>
          <p:nvPr>
            <p:ph idx="1" type="body"/>
          </p:nvPr>
        </p:nvSpPr>
        <p:spPr>
          <a:xfrm>
            <a:off x="228600" y="280032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Price: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Recommendations: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Was not predicted to be a determining factor for price.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Metacritic Score: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The higher the score the higher chance of price to be higher.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Outlier: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Metacritic scores above 100.</a:t>
            </a:r>
            <a:endParaRPr/>
          </a:p>
        </p:txBody>
      </p:sp>
      <p:sp>
        <p:nvSpPr>
          <p:cNvPr id="614" name="Google Shape;614;p6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615" name="Google Shape;615;p6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6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6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6:</a:t>
            </a:r>
            <a:endParaRPr/>
          </a:p>
        </p:txBody>
      </p:sp>
      <p:pic>
        <p:nvPicPr>
          <p:cNvPr id="618" name="Google Shape;61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3500" y="228600"/>
            <a:ext cx="2562225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3750" y="219075"/>
            <a:ext cx="2466575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3500" y="2250275"/>
            <a:ext cx="2562225" cy="20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23750" y="2240750"/>
            <a:ext cx="2466575" cy="20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7"/>
          <p:cNvSpPr txBox="1"/>
          <p:nvPr>
            <p:ph type="title"/>
          </p:nvPr>
        </p:nvSpPr>
        <p:spPr>
          <a:xfrm>
            <a:off x="228600" y="613525"/>
            <a:ext cx="3904500" cy="192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Is price or discounts affected by the amount of recommendations given or metacritic scores?</a:t>
            </a:r>
            <a:endParaRPr sz="2800"/>
          </a:p>
        </p:txBody>
      </p:sp>
      <p:sp>
        <p:nvSpPr>
          <p:cNvPr id="627" name="Google Shape;627;p67"/>
          <p:cNvSpPr txBox="1"/>
          <p:nvPr>
            <p:ph idx="1" type="body"/>
          </p:nvPr>
        </p:nvSpPr>
        <p:spPr>
          <a:xfrm>
            <a:off x="228600" y="313902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Discounts</a:t>
            </a:r>
            <a:r>
              <a:rPr lang="en"/>
              <a:t>: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Recommendations: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Was not predicted to be a determining factor for discounts.</a:t>
            </a:r>
            <a:endParaRPr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Metacritic Score:</a:t>
            </a:r>
            <a:endParaRPr/>
          </a:p>
          <a:p>
            <a:pPr indent="-292100" lvl="2" marL="1371600" rtl="0" algn="l">
              <a:spcBef>
                <a:spcPts val="0"/>
              </a:spcBef>
              <a:spcAft>
                <a:spcPts val="0"/>
              </a:spcAft>
              <a:buSzPts val="1000"/>
              <a:buChar char="■"/>
            </a:pPr>
            <a:r>
              <a:rPr lang="en"/>
              <a:t>Higher scores predicted to have a higher </a:t>
            </a:r>
            <a:r>
              <a:rPr lang="en"/>
              <a:t>likelihood</a:t>
            </a:r>
            <a:r>
              <a:rPr lang="en"/>
              <a:t> of being discounted .</a:t>
            </a:r>
            <a:endParaRPr/>
          </a:p>
        </p:txBody>
      </p:sp>
      <p:sp>
        <p:nvSpPr>
          <p:cNvPr id="628" name="Google Shape;628;p67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629" name="Google Shape;629;p67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67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67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6:</a:t>
            </a:r>
            <a:endParaRPr/>
          </a:p>
        </p:txBody>
      </p:sp>
      <p:pic>
        <p:nvPicPr>
          <p:cNvPr id="632" name="Google Shape;63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3500" y="228600"/>
            <a:ext cx="2562225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3750" y="219075"/>
            <a:ext cx="2466575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3500" y="2250275"/>
            <a:ext cx="2562225" cy="20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23750" y="2240750"/>
            <a:ext cx="2466575" cy="20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8"/>
          <p:cNvSpPr txBox="1"/>
          <p:nvPr>
            <p:ph type="title"/>
          </p:nvPr>
        </p:nvSpPr>
        <p:spPr>
          <a:xfrm>
            <a:off x="228600" y="613525"/>
            <a:ext cx="3904500" cy="1871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game characteristics predict High/Low review scores?</a:t>
            </a:r>
            <a:endParaRPr/>
          </a:p>
        </p:txBody>
      </p:sp>
      <p:pic>
        <p:nvPicPr>
          <p:cNvPr id="641" name="Google Shape;641;p68" title="decision_tree.png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1550" r="1540" t="0"/>
          <a:stretch/>
        </p:blipFill>
        <p:spPr>
          <a:xfrm>
            <a:off x="3725100" y="613525"/>
            <a:ext cx="5192100" cy="3827400"/>
          </a:xfrm>
          <a:prstGeom prst="roundRect">
            <a:avLst>
              <a:gd fmla="val 16667" name="adj"/>
            </a:avLst>
          </a:prstGeom>
        </p:spPr>
      </p:pic>
      <p:sp>
        <p:nvSpPr>
          <p:cNvPr id="642" name="Google Shape;642;p68"/>
          <p:cNvSpPr txBox="1"/>
          <p:nvPr>
            <p:ph idx="1" type="body"/>
          </p:nvPr>
        </p:nvSpPr>
        <p:spPr>
          <a:xfrm>
            <a:off x="228600" y="3127225"/>
            <a:ext cx="2920800" cy="15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 </a:t>
            </a:r>
            <a:r>
              <a:rPr lang="en"/>
              <a:t>Decision</a:t>
            </a:r>
            <a:r>
              <a:rPr lang="en"/>
              <a:t> Tree Classifier (max depth = 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predictors: playtime, peak CCU, price, and DLC count.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Biggest takeaway: Games with more DLC’s and high player engagement (CCU) tended to receive higher review scores, while lower-priced </a:t>
            </a:r>
            <a:r>
              <a:rPr lang="en"/>
              <a:t>games</a:t>
            </a:r>
            <a:r>
              <a:rPr lang="en"/>
              <a:t> leaned toward lower scores.</a:t>
            </a:r>
            <a:endParaRPr/>
          </a:p>
        </p:txBody>
      </p:sp>
      <p:sp>
        <p:nvSpPr>
          <p:cNvPr id="643" name="Google Shape;643;p6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644" name="Google Shape;644;p6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6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6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7: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9"/>
          <p:cNvSpPr txBox="1"/>
          <p:nvPr>
            <p:ph type="title"/>
          </p:nvPr>
        </p:nvSpPr>
        <p:spPr>
          <a:xfrm>
            <a:off x="228600" y="613525"/>
            <a:ext cx="3904500" cy="1871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game characteristics predict High/Low review scores?</a:t>
            </a:r>
            <a:endParaRPr/>
          </a:p>
        </p:txBody>
      </p:sp>
      <p:pic>
        <p:nvPicPr>
          <p:cNvPr id="652" name="Google Shape;652;p69" title="decision_tree.png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0" r="1545" t="0"/>
          <a:stretch/>
        </p:blipFill>
        <p:spPr>
          <a:xfrm>
            <a:off x="3604425" y="613425"/>
            <a:ext cx="5312700" cy="3827100"/>
          </a:xfrm>
          <a:prstGeom prst="roundRect">
            <a:avLst>
              <a:gd fmla="val 0" name="adj"/>
            </a:avLst>
          </a:prstGeom>
        </p:spPr>
      </p:pic>
      <p:sp>
        <p:nvSpPr>
          <p:cNvPr id="653" name="Google Shape;653;p69"/>
          <p:cNvSpPr txBox="1"/>
          <p:nvPr>
            <p:ph idx="1" type="body"/>
          </p:nvPr>
        </p:nvSpPr>
        <p:spPr>
          <a:xfrm>
            <a:off x="233850" y="2485225"/>
            <a:ext cx="2920800" cy="21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 Tree Reveals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Review outcomes are influenced mostly by engagement and content depth, not necessarily by simple attributes like genre or platform.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The tree suggest that players rate games more positively when the game is actively played and continuously updated with DLC.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Price has influence, but only after DLC and CCU are considered.</a:t>
            </a:r>
            <a:endParaRPr/>
          </a:p>
        </p:txBody>
      </p:sp>
      <p:sp>
        <p:nvSpPr>
          <p:cNvPr id="654" name="Google Shape;654;p69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655" name="Google Shape;655;p69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69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69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7: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0"/>
          <p:cNvSpPr txBox="1"/>
          <p:nvPr>
            <p:ph type="title"/>
          </p:nvPr>
        </p:nvSpPr>
        <p:spPr>
          <a:xfrm>
            <a:off x="228600" y="613525"/>
            <a:ext cx="3904500" cy="2316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Based on the price of a game, is it likely to have mostly positive/Negative reviews?</a:t>
            </a:r>
            <a:endParaRPr/>
          </a:p>
        </p:txBody>
      </p:sp>
      <p:pic>
        <p:nvPicPr>
          <p:cNvPr id="663" name="Google Shape;663;p70" title="classification report.png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-2430" l="0" r="-1471" t="-2314"/>
          <a:stretch/>
        </p:blipFill>
        <p:spPr>
          <a:xfrm>
            <a:off x="4064050" y="944050"/>
            <a:ext cx="4853400" cy="3662700"/>
          </a:xfrm>
          <a:prstGeom prst="roundRect">
            <a:avLst>
              <a:gd fmla="val 16667" name="adj"/>
            </a:avLst>
          </a:prstGeom>
        </p:spPr>
      </p:pic>
      <p:sp>
        <p:nvSpPr>
          <p:cNvPr id="664" name="Google Shape;664;p70"/>
          <p:cNvSpPr txBox="1"/>
          <p:nvPr>
            <p:ph idx="1" type="body"/>
          </p:nvPr>
        </p:nvSpPr>
        <p:spPr>
          <a:xfrm>
            <a:off x="233850" y="2882200"/>
            <a:ext cx="2920800" cy="179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 Gaussian Naive Bayes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Target: review_category (HIgh vs Low)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Feature: Price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Train/Test Split: 80/20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Points: price was chosen </a:t>
            </a:r>
            <a:r>
              <a:rPr lang="en"/>
              <a:t>because</a:t>
            </a:r>
            <a:r>
              <a:rPr lang="en"/>
              <a:t> it was relatively evenly distributed compared to other numeric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struggled with </a:t>
            </a:r>
            <a:r>
              <a:rPr lang="en"/>
              <a:t>imbalance</a:t>
            </a:r>
            <a:r>
              <a:rPr lang="en"/>
              <a:t> classes</a:t>
            </a:r>
            <a:endParaRPr/>
          </a:p>
        </p:txBody>
      </p:sp>
      <p:sp>
        <p:nvSpPr>
          <p:cNvPr id="665" name="Google Shape;665;p70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666" name="Google Shape;666;p70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70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70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8: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1"/>
          <p:cNvSpPr txBox="1"/>
          <p:nvPr>
            <p:ph type="title"/>
          </p:nvPr>
        </p:nvSpPr>
        <p:spPr>
          <a:xfrm>
            <a:off x="228600" y="613525"/>
            <a:ext cx="3904500" cy="2316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Based on the price of a game, is it likely to have mostly positive/Negative reviews?</a:t>
            </a:r>
            <a:endParaRPr/>
          </a:p>
        </p:txBody>
      </p:sp>
      <p:pic>
        <p:nvPicPr>
          <p:cNvPr id="674" name="Google Shape;674;p71" title="s10.png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-1888" l="0" r="0" t="-1899"/>
          <a:stretch/>
        </p:blipFill>
        <p:spPr>
          <a:xfrm>
            <a:off x="4523050" y="642375"/>
            <a:ext cx="4394100" cy="3798300"/>
          </a:xfrm>
          <a:prstGeom prst="roundRect">
            <a:avLst>
              <a:gd fmla="val 16667" name="adj"/>
            </a:avLst>
          </a:prstGeom>
        </p:spPr>
      </p:pic>
      <p:sp>
        <p:nvSpPr>
          <p:cNvPr id="675" name="Google Shape;675;p71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Observations: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Model predicts High-review games well (recall 90%)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Struggles with  Low-review games (recall 29%)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Misclassification</a:t>
            </a:r>
            <a:r>
              <a:rPr lang="en"/>
              <a:t> is mostly Low to High, which indicates a bias toward the majority class.</a:t>
            </a:r>
            <a:endParaRPr/>
          </a:p>
        </p:txBody>
      </p:sp>
      <p:sp>
        <p:nvSpPr>
          <p:cNvPr id="676" name="Google Shape;676;p71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71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71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71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8: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2"/>
          <p:cNvSpPr txBox="1"/>
          <p:nvPr>
            <p:ph type="title"/>
          </p:nvPr>
        </p:nvSpPr>
        <p:spPr>
          <a:xfrm>
            <a:off x="228600" y="613525"/>
            <a:ext cx="3904500" cy="1871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platforms tend to appear together for the same games?</a:t>
            </a:r>
            <a:endParaRPr/>
          </a:p>
        </p:txBody>
      </p:sp>
      <p:pic>
        <p:nvPicPr>
          <p:cNvPr id="685" name="Google Shape;685;p72" title="Association rules.png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0" l="1888" r="8199" t="0"/>
          <a:stretch/>
        </p:blipFill>
        <p:spPr>
          <a:xfrm>
            <a:off x="3321525" y="1107175"/>
            <a:ext cx="5595600" cy="3333600"/>
          </a:xfrm>
          <a:prstGeom prst="roundRect">
            <a:avLst>
              <a:gd fmla="val 16667" name="adj"/>
            </a:avLst>
          </a:prstGeom>
        </p:spPr>
      </p:pic>
      <p:sp>
        <p:nvSpPr>
          <p:cNvPr id="686" name="Google Shape;686;p72"/>
          <p:cNvSpPr txBox="1"/>
          <p:nvPr>
            <p:ph idx="1" type="body"/>
          </p:nvPr>
        </p:nvSpPr>
        <p:spPr>
          <a:xfrm>
            <a:off x="233850" y="2485225"/>
            <a:ext cx="2920800" cy="223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 Apriori + </a:t>
            </a:r>
            <a:r>
              <a:rPr lang="en"/>
              <a:t>Association</a:t>
            </a:r>
            <a:r>
              <a:rPr lang="en"/>
              <a:t>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Features: platforms (Windows, Mac, Linux)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Observations: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Linux and Mac have the strongest co-</a:t>
            </a:r>
            <a:r>
              <a:rPr lang="en"/>
              <a:t>occurrence</a:t>
            </a:r>
            <a:r>
              <a:rPr lang="en"/>
              <a:t> 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Windows and Mac often appear together, but less unexpectedly than Linux and Mac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This Helps us predict platform availability if one platform is already known.</a:t>
            </a:r>
            <a:endParaRPr/>
          </a:p>
        </p:txBody>
      </p:sp>
      <p:sp>
        <p:nvSpPr>
          <p:cNvPr id="687" name="Google Shape;687;p72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688" name="Google Shape;688;p72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72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72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9: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3"/>
          <p:cNvSpPr txBox="1"/>
          <p:nvPr>
            <p:ph type="title"/>
          </p:nvPr>
        </p:nvSpPr>
        <p:spPr>
          <a:xfrm>
            <a:off x="228600" y="613525"/>
            <a:ext cx="3904500" cy="1871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platforms tend to appear together for the same games?</a:t>
            </a:r>
            <a:endParaRPr/>
          </a:p>
        </p:txBody>
      </p:sp>
      <p:pic>
        <p:nvPicPr>
          <p:cNvPr id="696" name="Google Shape;696;p73" title="s12.png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-2396" l="-959" r="0" t="0"/>
          <a:stretch/>
        </p:blipFill>
        <p:spPr>
          <a:xfrm>
            <a:off x="3788150" y="605700"/>
            <a:ext cx="5128800" cy="3927000"/>
          </a:xfrm>
          <a:prstGeom prst="roundRect">
            <a:avLst>
              <a:gd fmla="val 16667" name="adj"/>
            </a:avLst>
          </a:prstGeom>
        </p:spPr>
      </p:pic>
      <p:sp>
        <p:nvSpPr>
          <p:cNvPr id="697" name="Google Shape;697;p73"/>
          <p:cNvSpPr txBox="1"/>
          <p:nvPr>
            <p:ph idx="1" type="body"/>
          </p:nvPr>
        </p:nvSpPr>
        <p:spPr>
          <a:xfrm>
            <a:off x="233850" y="2828550"/>
            <a:ext cx="2920800" cy="161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Windows and Mac often appear together, but LInux and Mac has a higher lift of 3.8, meaning its more frequent than random chance.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Rules with lift &gt; 1 indicate a strong positive correlation between platforms.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Supports identifying cross-platform trends in games.</a:t>
            </a:r>
            <a:endParaRPr/>
          </a:p>
        </p:txBody>
      </p:sp>
      <p:sp>
        <p:nvSpPr>
          <p:cNvPr id="698" name="Google Shape;698;p73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  <p:sp>
        <p:nvSpPr>
          <p:cNvPr id="699" name="Google Shape;699;p73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73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73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9:</a:t>
            </a:r>
            <a:endParaRPr/>
          </a:p>
        </p:txBody>
      </p:sp>
      <p:sp>
        <p:nvSpPr>
          <p:cNvPr id="702" name="Google Shape;702;p73"/>
          <p:cNvSpPr txBox="1"/>
          <p:nvPr/>
        </p:nvSpPr>
        <p:spPr>
          <a:xfrm>
            <a:off x="0" y="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50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Guillermo Leon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74"/>
          <p:cNvSpPr txBox="1"/>
          <p:nvPr>
            <p:ph type="title"/>
          </p:nvPr>
        </p:nvSpPr>
        <p:spPr>
          <a:xfrm>
            <a:off x="2619750" y="1626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 &amp; A</a:t>
            </a:r>
            <a:endParaRPr/>
          </a:p>
        </p:txBody>
      </p:sp>
      <p:sp>
        <p:nvSpPr>
          <p:cNvPr id="708" name="Google Shape;708;p74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